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147483638" r:id="rId2"/>
    <p:sldId id="2147483640" r:id="rId3"/>
    <p:sldId id="2147483634" r:id="rId4"/>
    <p:sldId id="214748364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6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19E3-A98A-90C3-B4EB-B9A374F26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9C240-90C0-C6F3-10EB-CBFA0B953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37704-3AB6-B4AB-B3C1-5A42D05DE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0C7E6-3EEA-6ABF-E28A-381AFEA90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C967E-2C45-BD1C-A59B-7B8358DAF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06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217-5825-1741-5C40-55D0DAEA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FEF81-E0D9-9363-7B85-18D922890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58AC2-68F6-DA8A-5A1A-5EE738F4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1CB0D-BF40-3D72-10E3-CB03C5CB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700ED-FE93-50CC-3324-77783711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27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425F-660C-CE11-5579-0C4706F18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1B312-156D-139D-E5E4-1FBFAAD7A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C737E-8FBF-0C20-D848-11C1975A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81771-5BAB-EE9F-1708-F4EE7AEB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25CCF-D6A0-5A8E-987A-F02DB940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9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09C0-BFD0-B165-E8A3-023C2814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C99C7-5DE0-B2F3-9D79-66DB3213A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487D5-809A-7CC6-3B8A-B89C05A78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C471D-79C7-B67F-500A-F2C34DC73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3BD53-B6F3-3E7C-C509-DEC4CD7A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3477A-647B-9188-0ACF-833558063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4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CEB5-8DC7-6F16-B3E2-232031EB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4914E-0139-0492-3A29-F2F1B4587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B5DE2-4FE8-F3FF-3437-DBDFAE892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B7A6E1-2A79-1710-7D86-A740FB642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35F57-1B8F-6F14-0C01-B3B59898C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D0E243-85FB-F2D4-FB40-C255990B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0BDF2-316C-B456-9379-04EE30581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DA604A-7010-8B4C-4764-02CD7695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7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4437-EEA5-C545-E78D-3AE91AE0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FE234-B1E4-34C6-9583-4CF7E3F0B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6A9D5E-5016-78F7-0481-ED9E9EE6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2EE96D-5FF8-A883-E8A7-174685D8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8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434AC6-0F3D-7395-C0F9-0E5BCD9EC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F253D-8748-CF60-C1DC-00063343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45710-9BF3-C2A4-87E2-A221BE32C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75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9485-BE51-71FD-FDAE-E81E5CA7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7EB9E-0EC2-DBA6-BC69-52602C809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6A6DA-47F0-6032-6D84-4BB66180D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2B99D-F9C3-A805-7A62-0C49DFC9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C4602-A986-4FBF-570B-C1650B3DF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9E594-42D5-3C2B-D211-A3617898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9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3C9D-B453-0C2F-A458-14D3C28E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BDB88C-F2B3-D9D1-9132-4E38EB772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6608D-2E44-737E-4133-3A37698E0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7A4C7-3078-0103-9358-32A963191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32609-DA65-2834-BBAF-48CFC80BC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FAE42-C316-E769-2C8D-52C9792E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22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C61FF-BA2A-E6C6-1B50-0164BFC64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3E735-8FDA-FC4F-8C88-A28D8E32C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D5EB0-EAE3-9F08-EE09-B52E2AC7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DE4CE-D5B1-1980-A042-8BCA3F70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55DDA-B3C9-1AAC-8616-33E6ECF7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3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0B3AE6-9E73-D8E2-594C-352AC3423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23015-A9FA-8302-45D2-6269E4CF7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0B743-8BF9-E894-76A0-177F89CF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8CFE6-EE86-E277-B3B0-B5DF6298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406DE-7F81-E70A-20FF-37BB2FFF9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24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5B7F3-4EB3-49AF-4CCA-0D956C4DC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02AB3-D24C-E301-7FB1-DE2726D1D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70BFA-4047-6A6E-85DC-25FA8912E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EC115-DABC-E249-B626-7E0C35D544A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AB727-7778-2574-8FE8-19A58CF7B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0BAAE-BAB8-F917-83F8-136D1301EC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B7F74-C24B-8848-83F8-7EA68CA3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0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E0B8-544A-9B2D-5523-F3518D0A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2DFEE82-85AA-4F69-0698-2AE61D2EA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55" y="2229555"/>
            <a:ext cx="11465279" cy="3810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2E7306-2868-CD45-EDD0-4501C424E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Temperature and neonatal mortality DHS analysis – top model by RMSE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0A3C2-216E-E99C-5B78-0390120A2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F0CD6-AD00-1841-BC55-14E444E5E8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620F5D-E064-7CD7-3587-027749D36051}"/>
              </a:ext>
            </a:extLst>
          </p:cNvPr>
          <p:cNvSpPr/>
          <p:nvPr/>
        </p:nvSpPr>
        <p:spPr>
          <a:xfrm>
            <a:off x="4500722" y="1843325"/>
            <a:ext cx="6224521" cy="27582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Predicted neonatal mortality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48BB03-1A8A-3F8C-021B-9ED2DB826151}"/>
              </a:ext>
            </a:extLst>
          </p:cNvPr>
          <p:cNvSpPr/>
          <p:nvPr/>
        </p:nvSpPr>
        <p:spPr>
          <a:xfrm>
            <a:off x="978797" y="5837200"/>
            <a:ext cx="9751094" cy="419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Average Number of Days Over 28° for Nine Months Prior to Birth Month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392487-1BD3-F9AB-C70C-8A316A0CC310}"/>
              </a:ext>
            </a:extLst>
          </p:cNvPr>
          <p:cNvSpPr/>
          <p:nvPr/>
        </p:nvSpPr>
        <p:spPr>
          <a:xfrm rot="16200000">
            <a:off x="-1147798" y="3731936"/>
            <a:ext cx="3426286" cy="428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700">
                <a:solidFill>
                  <a:schemeClr val="tx2"/>
                </a:solidFill>
                <a:latin typeface="Arial"/>
                <a:cs typeface="Arial"/>
              </a:rPr>
              <a:t>Daily Consumption per Capita</a:t>
            </a:r>
            <a:endParaRPr lang="en-US">
              <a:solidFill>
                <a:schemeClr val="tx2"/>
              </a:solidFill>
              <a:latin typeface="Archivo Light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282B98-DD3E-360B-804E-73EA8B5D20F9}"/>
              </a:ext>
            </a:extLst>
          </p:cNvPr>
          <p:cNvSpPr/>
          <p:nvPr/>
        </p:nvSpPr>
        <p:spPr>
          <a:xfrm>
            <a:off x="1147495" y="2170764"/>
            <a:ext cx="2817615" cy="2704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Neonatal Mortality Data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DE7B85-828C-9E7C-CD3E-68844EEB767A}"/>
              </a:ext>
            </a:extLst>
          </p:cNvPr>
          <p:cNvSpPr/>
          <p:nvPr/>
        </p:nvSpPr>
        <p:spPr>
          <a:xfrm>
            <a:off x="4502153" y="2166118"/>
            <a:ext cx="2850139" cy="27979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With Location Random Effects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3D147C-4AB3-97E6-1A6C-130430AF2D52}"/>
              </a:ext>
            </a:extLst>
          </p:cNvPr>
          <p:cNvSpPr/>
          <p:nvPr/>
        </p:nvSpPr>
        <p:spPr>
          <a:xfrm>
            <a:off x="7884689" y="2170764"/>
            <a:ext cx="2850139" cy="27979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Without Location Random Effects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D6C870-8B4B-5633-1872-301C6499F9B0}"/>
              </a:ext>
            </a:extLst>
          </p:cNvPr>
          <p:cNvSpPr/>
          <p:nvPr/>
        </p:nvSpPr>
        <p:spPr>
          <a:xfrm rot="16200000">
            <a:off x="9826345" y="3731936"/>
            <a:ext cx="3426286" cy="428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700">
                <a:solidFill>
                  <a:schemeClr val="tx2"/>
                </a:solidFill>
                <a:latin typeface="Arial"/>
                <a:cs typeface="Arial"/>
              </a:rPr>
              <a:t>Neonatal Mortality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65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ADAE0-6DD5-9C9A-8295-C9D5311B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f a scam&#10;&#10;AI-generated content may be incorrect.">
            <a:extLst>
              <a:ext uri="{FF2B5EF4-FFF2-40B4-BE49-F238E27FC236}">
                <a16:creationId xmlns:a16="http://schemas.microsoft.com/office/drawing/2014/main" id="{0FB8C72B-6525-8C61-DCBD-4DF04CC4A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389" y="2060222"/>
            <a:ext cx="5842002" cy="3506612"/>
          </a:xfrm>
          <a:prstGeom prst="rect">
            <a:avLst/>
          </a:prstGeom>
        </p:spPr>
      </p:pic>
      <p:pic>
        <p:nvPicPr>
          <p:cNvPr id="3" name="Picture 2" descr="A graph of a scam&#10;&#10;AI-generated content may be incorrect.">
            <a:extLst>
              <a:ext uri="{FF2B5EF4-FFF2-40B4-BE49-F238E27FC236}">
                <a16:creationId xmlns:a16="http://schemas.microsoft.com/office/drawing/2014/main" id="{C8934C4B-5782-897C-6A5C-D1556A111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89" y="2017889"/>
            <a:ext cx="5722056" cy="35066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CE95E-4378-3771-2401-E2EEB057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Top model spline effect–temperature and neonatal mortality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3566-E3D1-AB99-3136-B4E0F9A34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F0CD6-AD00-1841-BC55-14E444E5E8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B72B84-6950-EBEA-9FD8-59F840463326}"/>
              </a:ext>
            </a:extLst>
          </p:cNvPr>
          <p:cNvSpPr/>
          <p:nvPr/>
        </p:nvSpPr>
        <p:spPr>
          <a:xfrm>
            <a:off x="706095" y="2054608"/>
            <a:ext cx="5182601" cy="31231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>
                <a:latin typeface="Arial"/>
                <a:cs typeface="Arial"/>
              </a:rPr>
              <a:t>SCAM Spline Effect: Daily Consumption per Capita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B12726-7597-C0E9-28C8-B9C28FAF056A}"/>
              </a:ext>
            </a:extLst>
          </p:cNvPr>
          <p:cNvSpPr/>
          <p:nvPr/>
        </p:nvSpPr>
        <p:spPr>
          <a:xfrm>
            <a:off x="6546546" y="2017436"/>
            <a:ext cx="5214739" cy="3541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latin typeface="Arial"/>
                <a:cs typeface="Arial"/>
              </a:rPr>
              <a:t>SCAM Spline Effect: Average Number of Days Over 28°C for Nine Months Prior to Birth Month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DF99C9-C2DC-E759-21E5-2D0573F9F07D}"/>
              </a:ext>
            </a:extLst>
          </p:cNvPr>
          <p:cNvSpPr/>
          <p:nvPr/>
        </p:nvSpPr>
        <p:spPr>
          <a:xfrm>
            <a:off x="706094" y="5325115"/>
            <a:ext cx="5108259" cy="18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Daily Consumption per Capita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3C5630-639B-DA55-6466-C431957B0057}"/>
              </a:ext>
            </a:extLst>
          </p:cNvPr>
          <p:cNvSpPr/>
          <p:nvPr/>
        </p:nvSpPr>
        <p:spPr>
          <a:xfrm>
            <a:off x="6727751" y="5381559"/>
            <a:ext cx="5108259" cy="38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Average Number of Days Over 28°C for Nine Months Prior to Birth Month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6F3625-B19E-CC30-771D-E8236BEAB4AF}"/>
              </a:ext>
            </a:extLst>
          </p:cNvPr>
          <p:cNvSpPr/>
          <p:nvPr/>
        </p:nvSpPr>
        <p:spPr>
          <a:xfrm rot="16200000">
            <a:off x="-1219815" y="3525173"/>
            <a:ext cx="3124273" cy="172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Partial Effect (Log-Odds)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40E766-AB4A-3AA7-4777-DC5CBDB0E95B}"/>
              </a:ext>
            </a:extLst>
          </p:cNvPr>
          <p:cNvSpPr/>
          <p:nvPr/>
        </p:nvSpPr>
        <p:spPr>
          <a:xfrm rot="16200000">
            <a:off x="4546467" y="3497294"/>
            <a:ext cx="3124273" cy="172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Partial Effect (Log-Odds)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45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BC2DB-EEF2-E904-48A2-37B279A0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9D762F-CE1F-5CA3-B117-F229C9CE3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457" y="2215011"/>
            <a:ext cx="3756445" cy="3420015"/>
          </a:xfrm>
          <a:prstGeom prst="rect">
            <a:avLst/>
          </a:prstGeom>
        </p:spPr>
      </p:pic>
      <p:pic>
        <p:nvPicPr>
          <p:cNvPr id="14" name="Picture 13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5E8C1FF2-EE37-03D2-8DF1-D45A6F0C0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898" y="2229389"/>
            <a:ext cx="3304995" cy="3420014"/>
          </a:xfrm>
          <a:prstGeom prst="rect">
            <a:avLst/>
          </a:prstGeom>
        </p:spPr>
      </p:pic>
      <p:pic>
        <p:nvPicPr>
          <p:cNvPr id="16" name="Content Placeholder 21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3ABB6547-A032-5046-FBB3-580983264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2449" y="2228223"/>
            <a:ext cx="3295291" cy="3424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7600FA-4BAA-1C29-91B9-8C5537AD5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Temperature and under-five mortality DHS analysis</a:t>
            </a:r>
            <a:endParaRPr lang="en-US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30292-6838-F1C4-85F2-2BDD28A6B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F0CD6-AD00-1841-BC55-14E444E5E89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0E39AA-1367-5C05-5112-4C86B8468574}"/>
              </a:ext>
            </a:extLst>
          </p:cNvPr>
          <p:cNvSpPr/>
          <p:nvPr/>
        </p:nvSpPr>
        <p:spPr>
          <a:xfrm>
            <a:off x="4528601" y="1713227"/>
            <a:ext cx="6233814" cy="28976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Predicted Under-five mortality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44A6B8-B023-7C34-ECDA-52A756D5C886}"/>
              </a:ext>
            </a:extLst>
          </p:cNvPr>
          <p:cNvSpPr/>
          <p:nvPr/>
        </p:nvSpPr>
        <p:spPr>
          <a:xfrm>
            <a:off x="1104249" y="5734465"/>
            <a:ext cx="9825435" cy="419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700">
                <a:solidFill>
                  <a:schemeClr val="tx2"/>
                </a:solidFill>
                <a:latin typeface="Arial"/>
                <a:cs typeface="Arial"/>
              </a:rPr>
              <a:t>Days Over 30</a:t>
            </a:r>
            <a:r>
              <a:rPr lang="en-US" sz="1700">
                <a:solidFill>
                  <a:schemeClr val="tx2"/>
                </a:solidFill>
                <a:latin typeface="Arial"/>
                <a:ea typeface="+mn-lt"/>
                <a:cs typeface="+mn-lt"/>
              </a:rPr>
              <a:t>°C During Birth Month</a:t>
            </a:r>
            <a:endParaRPr lang="en-US" sz="170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592920-CCF1-7544-D070-3C939F8F6299}"/>
              </a:ext>
            </a:extLst>
          </p:cNvPr>
          <p:cNvSpPr/>
          <p:nvPr/>
        </p:nvSpPr>
        <p:spPr>
          <a:xfrm rot="16200000">
            <a:off x="-1101334" y="3736583"/>
            <a:ext cx="3426286" cy="428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700">
                <a:solidFill>
                  <a:schemeClr val="tx2"/>
                </a:solidFill>
                <a:latin typeface="Arial"/>
                <a:cs typeface="Arial"/>
              </a:rPr>
              <a:t>Daily Consumption per Capita</a:t>
            </a:r>
            <a:endParaRPr lang="en-US">
              <a:solidFill>
                <a:schemeClr val="tx2"/>
              </a:solidFill>
              <a:latin typeface="Archivo Light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FDE3CB-4975-2011-5304-DB18E5CD6648}"/>
              </a:ext>
            </a:extLst>
          </p:cNvPr>
          <p:cNvSpPr/>
          <p:nvPr/>
        </p:nvSpPr>
        <p:spPr>
          <a:xfrm>
            <a:off x="1175374" y="2040667"/>
            <a:ext cx="2817615" cy="2704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Under-five Mortality Data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BFD83E-CBB2-FD90-2383-BDE08F7B6FE0}"/>
              </a:ext>
            </a:extLst>
          </p:cNvPr>
          <p:cNvSpPr/>
          <p:nvPr/>
        </p:nvSpPr>
        <p:spPr>
          <a:xfrm>
            <a:off x="4530032" y="2036021"/>
            <a:ext cx="2850139" cy="27979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With Location Random Effects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53915F-78F1-40A3-1322-06F843816080}"/>
              </a:ext>
            </a:extLst>
          </p:cNvPr>
          <p:cNvSpPr/>
          <p:nvPr/>
        </p:nvSpPr>
        <p:spPr>
          <a:xfrm>
            <a:off x="7912568" y="2040667"/>
            <a:ext cx="2850139" cy="27979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Without Location Random Effects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72583C-CD10-AE33-65DB-4D1E271125D2}"/>
              </a:ext>
            </a:extLst>
          </p:cNvPr>
          <p:cNvSpPr/>
          <p:nvPr/>
        </p:nvSpPr>
        <p:spPr>
          <a:xfrm rot="16200000">
            <a:off x="9812923" y="3796985"/>
            <a:ext cx="3421640" cy="3123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700">
                <a:solidFill>
                  <a:schemeClr val="tx2"/>
                </a:solidFill>
                <a:latin typeface="Arial"/>
                <a:cs typeface="Arial"/>
              </a:rPr>
              <a:t>Under-five Mortality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95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ADAE0-6DD5-9C9A-8295-C9D5311BA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E95E-4378-3771-2401-E2EEB057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/>
                <a:cs typeface="Arial"/>
              </a:rPr>
              <a:t>Spline effect–temperature and under-five mortality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3566-E3D1-AB99-3136-B4E0F9A34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881" y="6387662"/>
            <a:ext cx="308917" cy="232693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3F0CD6-AD00-1841-BC55-14E444E5E89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B72B84-6950-EBEA-9FD8-59F840463326}"/>
              </a:ext>
            </a:extLst>
          </p:cNvPr>
          <p:cNvSpPr/>
          <p:nvPr/>
        </p:nvSpPr>
        <p:spPr>
          <a:xfrm>
            <a:off x="706095" y="2054608"/>
            <a:ext cx="5182601" cy="31231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>
                <a:latin typeface="Arial"/>
                <a:cs typeface="Arial"/>
              </a:rPr>
              <a:t>SCAM Spline Effect: Daily Consumption per Capita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B12726-7597-C0E9-28C8-B9C28FAF056A}"/>
              </a:ext>
            </a:extLst>
          </p:cNvPr>
          <p:cNvSpPr/>
          <p:nvPr/>
        </p:nvSpPr>
        <p:spPr>
          <a:xfrm>
            <a:off x="6546546" y="2017436"/>
            <a:ext cx="5214739" cy="3541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latin typeface="Arial"/>
                <a:cs typeface="Arial"/>
              </a:rPr>
              <a:t>SCAM Spline Effect: Average Monthly Number of Days Over 30°C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DF99C9-C2DC-E759-21E5-2D0573F9F07D}"/>
              </a:ext>
            </a:extLst>
          </p:cNvPr>
          <p:cNvSpPr/>
          <p:nvPr/>
        </p:nvSpPr>
        <p:spPr>
          <a:xfrm>
            <a:off x="706094" y="5606993"/>
            <a:ext cx="5108259" cy="182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Daily Consumption per Capita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3C5630-639B-DA55-6466-C431957B0057}"/>
              </a:ext>
            </a:extLst>
          </p:cNvPr>
          <p:cNvSpPr/>
          <p:nvPr/>
        </p:nvSpPr>
        <p:spPr>
          <a:xfrm>
            <a:off x="6727751" y="5505461"/>
            <a:ext cx="5108259" cy="38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Monthly of Days Over 30°C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6F3625-B19E-CC30-771D-E8236BEAB4AF}"/>
              </a:ext>
            </a:extLst>
          </p:cNvPr>
          <p:cNvSpPr/>
          <p:nvPr/>
        </p:nvSpPr>
        <p:spPr>
          <a:xfrm rot="16200000">
            <a:off x="-1219815" y="3525173"/>
            <a:ext cx="3124273" cy="172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Partial Effect (Log-Odds)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40E766-AB4A-3AA7-4777-DC5CBDB0E95B}"/>
              </a:ext>
            </a:extLst>
          </p:cNvPr>
          <p:cNvSpPr/>
          <p:nvPr/>
        </p:nvSpPr>
        <p:spPr>
          <a:xfrm rot="16200000">
            <a:off x="4546467" y="3497294"/>
            <a:ext cx="3124273" cy="172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latin typeface="Arial"/>
                <a:cs typeface="Arial"/>
              </a:rPr>
              <a:t>Partial Effect (Log-Odds)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 descr="A graph of a line&#10;&#10;AI-generated content may be incorrect.">
            <a:extLst>
              <a:ext uri="{FF2B5EF4-FFF2-40B4-BE49-F238E27FC236}">
                <a16:creationId xmlns:a16="http://schemas.microsoft.com/office/drawing/2014/main" id="{E6684493-08BE-7994-A1F8-75F003D77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46" y="2372732"/>
            <a:ext cx="5179122" cy="3097560"/>
          </a:xfrm>
          <a:prstGeom prst="rect">
            <a:avLst/>
          </a:prstGeom>
        </p:spPr>
      </p:pic>
      <p:pic>
        <p:nvPicPr>
          <p:cNvPr id="8" name="Picture 7" descr="A graph showing a curve&#10;&#10;AI-generated content may be incorrect.">
            <a:extLst>
              <a:ext uri="{FF2B5EF4-FFF2-40B4-BE49-F238E27FC236}">
                <a16:creationId xmlns:a16="http://schemas.microsoft.com/office/drawing/2014/main" id="{24F0CC22-0641-5084-5CE3-B41C2A66D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597" y="2377378"/>
            <a:ext cx="5172927" cy="308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53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197</Words>
  <Application>Microsoft Macintosh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Archivo Light</vt:lpstr>
      <vt:lpstr>Arial</vt:lpstr>
      <vt:lpstr>Office Theme</vt:lpstr>
      <vt:lpstr>Temperature and neonatal mortality DHS analysis – top model by RMSE</vt:lpstr>
      <vt:lpstr>Top model spline effect–temperature and neonatal mortality</vt:lpstr>
      <vt:lpstr>Temperature and under-five mortality DHS analysis </vt:lpstr>
      <vt:lpstr>Spline effect–temperature and under-five mortality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Elye Bliss</dc:creator>
  <cp:lastModifiedBy>Elye Bliss</cp:lastModifiedBy>
  <cp:revision>1</cp:revision>
  <dcterms:created xsi:type="dcterms:W3CDTF">2026-08-11T21:20:59Z</dcterms:created>
  <dcterms:modified xsi:type="dcterms:W3CDTF">2026-08-11T21:22:04Z</dcterms:modified>
</cp:coreProperties>
</file>